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2C38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" y="4279392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9072" y="4279392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87752" y="4279392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87752" y="3419856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87752" y="2560320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6432" y="2560320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25112" y="2560320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25112" y="1700784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93792" y="1700784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62472" y="1700784"/>
            <a:ext cx="832104" cy="82296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38928" y="14173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3" name="Image 0" descr="/home/claude/project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5242" y="1643634"/>
            <a:ext cx="553212" cy="55321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31520" y="2697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Path-Finding with A* Search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731520" y="35204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Single-Robot Heuristic Comparison  &amp;  Cooperative Multi-Robot Planning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Artificial Intelligence  |  Assignment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projec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68203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417320" y="1801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Single-robot and multi-robot path-finding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92240" y="1554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project/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799" y="1682039"/>
            <a:ext cx="311810" cy="3118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269480" y="1801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model, movement rules, evaluation metrics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project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373679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&amp; Heuristics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417320" y="34930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Manhattan, Euclidean, Chebyshev compared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92240" y="3246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project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799" y="3373679"/>
            <a:ext cx="311810" cy="3118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948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Multi-Robot Challenges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269480" y="34930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independent A* fails as teams grow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4937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/home/claude/project/icons/git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39" y="5065319"/>
            <a:ext cx="311810" cy="3118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4800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417320" y="51846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Space-Time A*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492240" y="4937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5" descr="/home/claude/project/icons/bar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799" y="5065319"/>
            <a:ext cx="311810" cy="31181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69480" y="4800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7269480" y="51846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+ 384 experiment runs, plotted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Single-Robot Path-Finding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projec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561338"/>
            <a:ext cx="352044" cy="3520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4028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A robot sits in one cell of a grid and must reach a goal cell.
</a:t>
            </a:r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Rules: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</a:rPr>
              <a:t>Grid has randomly placed static obstacles the robot cannot enter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</a:rPr>
              <a:t>Movement: one cell per step, 4 directions (N/E/S/W), unit cost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</a:rPr>
              <a:t>Goal: find the shortest path from start to goal using A* search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</a:rPr>
              <a:t>Compare 3+ heuristics on search efficiency, not just correctness</a:t>
            </a:r>
            <a:endParaRPr lang="en-US" sz="1600" dirty="0"/>
          </a:p>
        </p:txBody>
      </p:sp>
      <p:pic>
        <p:nvPicPr>
          <p:cNvPr id="6" name="Image 1" descr="/home/claude/project/results/screenshot_q1_grid_pa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63040"/>
            <a:ext cx="4892040" cy="42428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57424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20×20 grid, 22% obstacle density, solved with A* (Manhattan heuristic)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Customizations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rojec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8150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733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Obstacles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N×N grid; obstacle density and start/goal chosen at random. Instances are verified reachable (BFS) before use.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1417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project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564" y="181508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6733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Model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675120" y="22860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4-connected moves, unit cost. No diagonals — matches the standard grid path-finding formulation.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roject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14680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40050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Time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14400" y="46177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robots move (or wait) once per discrete timestep. A robot that reaches its goal parks there.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0" y="37490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675120" y="4023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project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414680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0050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675120" y="46177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expanded/generated &amp; runtime (Q1); collisions, makespan &amp; sum-of-costs (Q2) — standard MAPF metrics.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Search — Quick Recap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project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607058"/>
            <a:ext cx="352044" cy="3520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expands the frontier node with lowest f(n), guaranteeing an optimal path whenever h is admissible.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200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g(n) + h(n)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776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g(n): cost so far     h(n): estimated remaining cost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02C"/>
                </a:solidFill>
              </a:rPr>
              <a:t>Admissible heuristic → never overestimates true remaining cost → optimal path guaranteed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02C"/>
                </a:solidFill>
              </a:rPr>
              <a:t>Tighter (larger) admissible heuristic → fewer nodes expanded → faster search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02C"/>
                </a:solidFill>
              </a:rPr>
              <a:t>h(n) = 0 everywhere → A* degenerates exactly to Dijkstra's algorithm</a:t>
            </a:r>
            <a:endParaRPr lang="en-US" sz="1350" dirty="0"/>
          </a:p>
        </p:txBody>
      </p:sp>
      <p:pic>
        <p:nvPicPr>
          <p:cNvPr id="10" name="Image 1" descr="/home/claude/project/results/q1_nodes_expanded_a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4937760" cy="3291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7960" y="4892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(h=0) baseline expands far more nodes than any real heuristic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Heuristics Compared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AF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35204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|Δrow| + |Δcol|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remaining distance on an open 4-connected grid — tightest bound → fewest nodes expanded.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463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965960"/>
            <a:ext cx="35204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5361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80560" y="2606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√(Δrow²+Δcol²)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32918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distance. Always ≤ Manhattan → admissible, but a looser estimate.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1463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C05621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1965960"/>
            <a:ext cx="3520440" cy="4572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5361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2606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max(|Δrow|,|Δcol|)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49640" y="32918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for 8-connected movement; on this 4-connected grid it's the loosest of the three.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admissible → all return optimal paths (avg. 19.96 steps, 100% match with Dijkstra baseline). They differ only in search effort.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projec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11" y="1596771"/>
            <a:ext cx="326898" cy="326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402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</a:rPr>
              <a:t>Grid sizes: 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15×15, 25×25, 40×40
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</a:rPr>
              <a:t>Obstacle densities: 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10%, 20%, 30%
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</a:rPr>
              <a:t>Trials: 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15 random solvable instances per (size, density)
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</a:rPr>
              <a:t>Total: 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135 instances × 4 heuristics = 540 search runs</a:t>
            </a:r>
            <a:endParaRPr lang="en-US" sz="1450" dirty="0"/>
          </a:p>
        </p:txBody>
      </p:sp>
      <p:pic>
        <p:nvPicPr>
          <p:cNvPr id="6" name="Image 1" descr="/home/claude/project/results/q1_nodes_vs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63040"/>
            <a:ext cx="507492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Results — Manhattan Wins</a:t>
            </a:r>
            <a:endParaRPr lang="en-US" sz="3200" dirty="0"/>
          </a:p>
        </p:txBody>
      </p:sp>
      <p:pic>
        <p:nvPicPr>
          <p:cNvPr id="3" name="Image 0" descr="/home/claude/project/results/q1_nodes_vs_den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49240" cy="3703320"/>
          </a:xfrm>
          <a:prstGeom prst="rect">
            <a:avLst/>
          </a:prstGeom>
        </p:spPr>
      </p:pic>
      <p:pic>
        <p:nvPicPr>
          <p:cNvPr id="4" name="Image 1" descr="/home/claude/project/results/q1_time_vs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49240" cy="3703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5257800"/>
            <a:ext cx="10927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Manhattan expands ~4× fewer nodes than the h=0 baseline, and 30–40% fewer than Euclidean/Chebyshev — because it is the tightest admissible bound for 4-connected grids.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Multi-Robot Path-Finding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projec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561338"/>
            <a:ext cx="352044" cy="3520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402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many robots share the grid — each with its own start &amp; goal, moving simultaneously.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9718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3246120"/>
            <a:ext cx="548640" cy="548640"/>
          </a:xfrm>
          <a:prstGeom prst="ellipse">
            <a:avLst/>
          </a:prstGeom>
          <a:solidFill>
            <a:srgbClr val="C05621"/>
          </a:solidFill>
          <a:ln/>
        </p:spPr>
      </p:sp>
      <p:pic>
        <p:nvPicPr>
          <p:cNvPr id="8" name="Image 1" descr="/home/claude/project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336956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886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Collisions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43891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robots occupy the same cell at the same timestep.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80560" y="29718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/>
        </p:spPr>
      </p:sp>
      <p:sp>
        <p:nvSpPr>
          <p:cNvPr id="12" name="Shape 8"/>
          <p:cNvSpPr/>
          <p:nvPr/>
        </p:nvSpPr>
        <p:spPr>
          <a:xfrm>
            <a:off x="4754880" y="3246120"/>
            <a:ext cx="548640" cy="548640"/>
          </a:xfrm>
          <a:prstGeom prst="ellipse">
            <a:avLst/>
          </a:prstGeom>
          <a:solidFill>
            <a:srgbClr val="C05621"/>
          </a:solidFill>
          <a:ln/>
        </p:spPr>
      </p:sp>
      <p:pic>
        <p:nvPicPr>
          <p:cNvPr id="13" name="Image 2" descr="/home/claude/project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33695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3886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Swap Collisions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09160" y="43891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robots cross the same edge in opposite directions and swap cells.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321040" y="29718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/>
        </p:spPr>
      </p:sp>
      <p:sp>
        <p:nvSpPr>
          <p:cNvPr id="17" name="Shape 12"/>
          <p:cNvSpPr/>
          <p:nvPr/>
        </p:nvSpPr>
        <p:spPr>
          <a:xfrm>
            <a:off x="8595360" y="32461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3" descr="/home/claude/project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804" y="33695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49640" y="3886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Blow-up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549640" y="43891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state space grows as (free cells)^n — too large to search directly.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Method: Cooperative Space-Time A*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project/icons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811" y="1551051"/>
            <a:ext cx="326898" cy="326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robots one at a time; search over (row, col, time) instead of just (row, col).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8072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2770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order:  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520440" y="2770632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are assigned an order and planned sequentially, not all at once.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Space-time search:  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520440" y="3429000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robot's A* state is (r, c, t); a WAIT action lets it pause for another robot.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1239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40873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table:  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520440" y="4087368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planned robot's (cell, time) path and edges are marked reserved for later robots.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7823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782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47457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obstacles:  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520440" y="4745736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robots' searches treat reservations as obstacles — avoiding vertex &amp; edge collisions.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5440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54041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parking:  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520440" y="5404104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only “arrives” if its goal cell is free for the rest of the horizon too.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Experimental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20×20, 30×30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7099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10%, 20%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1417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7099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6, 8, 12, 16 robots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32520" y="1417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17099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per config → 192 instances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compared:  Plain A* (independent)  vs.  Cooperative Space-Time A* (proposed)  →  384 total planning runs</a:t>
            </a:r>
            <a:endParaRPr lang="en-US" sz="1300" dirty="0"/>
          </a:p>
        </p:txBody>
      </p:sp>
      <p:pic>
        <p:nvPicPr>
          <p:cNvPr id="12" name="Image 0" descr="/home/claude/project/results/screenshot_q2_multi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97480"/>
            <a:ext cx="9326880" cy="31455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8-robot instance: plain A* (left) collides; Cooperative Space-Time A* (right) does not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Results — 100% Collision-Free</a:t>
            </a:r>
            <a:endParaRPr lang="en-US" sz="3200" dirty="0"/>
          </a:p>
        </p:txBody>
      </p:sp>
      <p:pic>
        <p:nvPicPr>
          <p:cNvPr id="3" name="Image 0" descr="/home/claude/project/results/q2_collision_free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49240" cy="3520440"/>
          </a:xfrm>
          <a:prstGeom prst="rect">
            <a:avLst/>
          </a:prstGeom>
        </p:spPr>
      </p:pic>
      <p:pic>
        <p:nvPicPr>
          <p:cNvPr id="4" name="Image 1" descr="/home/claude/project/results/q2_sum_of_cos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49240" cy="3520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5074920"/>
            <a:ext cx="10927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Plain A* collapses from 91% collision-free (2 robots) to 0% (16 robots). Cooperative Space-Time A* stayed 100% collision-free across all 192 instances — for only ~2–5% more total path length.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CSMI17 — AI Assignment: Robot Path-Finding with A*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projec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67792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33756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is the most efficient admissible heuristic on 4-connected grids; all heuristics remain optimal.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projec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82092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33756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independent A* is unsafe beyond a handful of robots; collisions grow with team size and density.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projec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96392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794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fix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337560" y="3794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Space-Time A* with a reservation table achieved 100% collision-free plans at low extra cost.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" y="53949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16" name="Shape 11"/>
          <p:cNvSpPr/>
          <p:nvPr/>
        </p:nvSpPr>
        <p:spPr>
          <a:xfrm>
            <a:off x="960120" y="5550408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3" descr="/home/claude/project/icons/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66013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539496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results &amp; report:  &lt;ADD YOUR GITHUB LINK HERE&gt;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2026-09-02T19:03:14Z</dcterms:created>
  <dcterms:modified xsi:type="dcterms:W3CDTF">2026-09-02T19:03:14Z</dcterms:modified>
</cp:coreProperties>
</file>